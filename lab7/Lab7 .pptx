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07d98405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07d98405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7d98405f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7d98405f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0f7b8c9550_1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0f7b8c9550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17d8090b3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17d8090b3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17d8090b3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17d8090b3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17d8090b3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17d8090b3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17d8090b3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17d8090b3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0fd519b0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0fd519b0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180d55363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180d55363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0fd519b00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0fd519b00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7d8090b3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17d8090b3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f185fd0400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f185fd0400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zzzihao-li/COMP5566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wasai-project/wasai.gi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s.eos.io/welcome/v2.2/smart-contract-guides/deploy-issue-and-transfer-tokens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eos.io/" TargetMode="External"/><Relationship Id="rId4" Type="http://schemas.openxmlformats.org/officeDocument/2006/relationships/hyperlink" Target="https://bloks.io/account/batdappboomx" TargetMode="External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loks.io/account/batdappboomx" TargetMode="External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15050" y="1459500"/>
            <a:ext cx="8313900" cy="35085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-547199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 5566 Lab 7: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47199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27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EOSIO Security - reproduce CVE-2022-27134</a:t>
            </a:r>
            <a:endParaRPr sz="27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281653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</a:t>
            </a:r>
            <a:r>
              <a:rPr lang="zh-C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10th 2023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281653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Presenter: Weimin Chen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0" y="637825"/>
            <a:ext cx="8898900" cy="44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Lab 1, we had prepared a VMware image settled for attack demos. You can use it for </a:t>
            </a: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</a:t>
            </a: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Lab as well.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zh-CN" sz="1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are not in Lab room</a:t>
            </a: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You only need to install the</a:t>
            </a: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VMware Workstation Player</a:t>
            </a: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your Windows OS computer, download my VM image, and load the VM image.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computers in Lab room 604 A&amp;B have already installed the </a:t>
            </a: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VMware Workstation Player,</a:t>
            </a: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copied my VM image on desktop.</a:t>
            </a:r>
            <a:r>
              <a:rPr b="1"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would like to come to lab room 604 for tutorial, you are not required to install the </a:t>
            </a: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VMware Player</a:t>
            </a: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download the VM image.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 boot up computers in PQ604 A&amp;B, you need to choose the </a:t>
            </a:r>
            <a:r>
              <a:rPr b="1"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COMP5566</a:t>
            </a: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device from the Boot Menu by tapping </a:t>
            </a:r>
            <a:r>
              <a:rPr b="1"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In such cases, you will enter the system with environments configured by me.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2286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VM Account: </a:t>
            </a:r>
            <a:r>
              <a:rPr b="1" i="1"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     </a:t>
            </a:r>
            <a:r>
              <a:rPr i="1"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Passwd : </a:t>
            </a:r>
            <a:r>
              <a:rPr b="1" i="1"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1234</a:t>
            </a:r>
            <a:endParaRPr b="1" i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students who want to build the lab environment from scratch, I provide a Github repository </a:t>
            </a:r>
            <a:r>
              <a:rPr lang="zh-CN" sz="1400" u="sng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https://github.com/zzzihao-li/COMP5566</a:t>
            </a: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which maintains guidelines for setting up the environment and conducting the attacks.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Lab, we will only need </a:t>
            </a:r>
            <a:r>
              <a:rPr b="1" lang="zh-C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 b="1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5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latin typeface="Calibri"/>
                <a:ea typeface="Calibri"/>
                <a:cs typeface="Calibri"/>
                <a:sym typeface="Calibri"/>
              </a:rPr>
              <a:t>Before you read</a:t>
            </a:r>
            <a:endParaRPr sz="202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5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latin typeface="Calibri"/>
                <a:ea typeface="Calibri"/>
                <a:cs typeface="Calibri"/>
                <a:sym typeface="Calibri"/>
              </a:rPr>
              <a:t>Download the Code before Lab5</a:t>
            </a:r>
            <a:endParaRPr sz="20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724650"/>
            <a:ext cx="7992000" cy="3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To launch the environment for demonstrating attacks, you only need to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➢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Obtain the EOSIO Docker environment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git clone </a:t>
            </a:r>
            <a:r>
              <a:rPr lang="zh-CN" sz="14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https://github.com/wasai-project/wasai.git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➢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Obtain the POC and its Docker environment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git clone https://github.com/Kenun99/CVE-batdappboomx.git </a:t>
            </a: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to download the repo 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5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latin typeface="Calibri"/>
                <a:ea typeface="Calibri"/>
                <a:cs typeface="Calibri"/>
                <a:sym typeface="Calibri"/>
              </a:rPr>
              <a:t>EOSIO Components</a:t>
            </a:r>
            <a:endParaRPr sz="20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724650"/>
            <a:ext cx="7992000" cy="3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The EOSIO platform provides a number of components and libraries which are used to operate blockchain nodes, collect blockchain data, to interact with these nodes, and to build smart contracts. </a:t>
            </a:r>
            <a:endParaRPr sz="1400">
              <a:solidFill>
                <a:srgbClr val="111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CN" sz="1400">
                <a:solidFill>
                  <a:srgbClr val="657B83"/>
                </a:solidFill>
                <a:highlight>
                  <a:srgbClr val="F7F7F7"/>
                </a:highlight>
                <a:latin typeface="Calibri"/>
                <a:ea typeface="Calibri"/>
                <a:cs typeface="Calibri"/>
                <a:sym typeface="Calibri"/>
              </a:rPr>
              <a:t>nodeos</a:t>
            </a: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 (node + EOSIO = nodeos). This is the core EOSIO node daemon that can be configured with plugins to run a node. Example uses are block production, dedicated API endpoints, and local development. </a:t>
            </a:r>
            <a:endParaRPr sz="1400">
              <a:solidFill>
                <a:srgbClr val="111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zh-CN" sz="1400">
                <a:solidFill>
                  <a:srgbClr val="657B83"/>
                </a:solidFill>
                <a:highlight>
                  <a:srgbClr val="F7F7F7"/>
                </a:highlight>
                <a:latin typeface="Calibri"/>
                <a:ea typeface="Calibri"/>
                <a:cs typeface="Calibri"/>
                <a:sym typeface="Calibri"/>
              </a:rPr>
              <a:t>Cleos</a:t>
            </a: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 (CLI + EOSIO = cleos) is a command line interface which interacts with </a:t>
            </a:r>
            <a:r>
              <a:rPr lang="zh-CN" sz="1400">
                <a:solidFill>
                  <a:srgbClr val="657B83"/>
                </a:solidFill>
                <a:highlight>
                  <a:srgbClr val="F7F7F7"/>
                </a:highlight>
                <a:latin typeface="Calibri"/>
                <a:ea typeface="Calibri"/>
                <a:cs typeface="Calibri"/>
                <a:sym typeface="Calibri"/>
              </a:rPr>
              <a:t>nodeos</a:t>
            </a: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, allowing you to send commands and actions to a blockchain.</a:t>
            </a:r>
            <a:endParaRPr sz="1400">
              <a:solidFill>
                <a:srgbClr val="111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111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39624" l="5207" r="5163" t="18326"/>
          <a:stretch/>
        </p:blipFill>
        <p:spPr>
          <a:xfrm>
            <a:off x="1892600" y="3550525"/>
            <a:ext cx="5927224" cy="121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5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latin typeface="Calibri"/>
                <a:ea typeface="Calibri"/>
                <a:cs typeface="Calibri"/>
                <a:sym typeface="Calibri"/>
              </a:rPr>
              <a:t>EOSIO Components</a:t>
            </a:r>
            <a:endParaRPr sz="20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724650"/>
            <a:ext cx="7992000" cy="3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zh-CN" sz="1400">
                <a:solidFill>
                  <a:srgbClr val="657B83"/>
                </a:solidFill>
                <a:highlight>
                  <a:srgbClr val="F7F7F7"/>
                </a:highlight>
                <a:latin typeface="Calibri"/>
                <a:ea typeface="Calibri"/>
                <a:cs typeface="Calibri"/>
                <a:sym typeface="Calibri"/>
              </a:rPr>
              <a:t>keosd</a:t>
            </a: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 (key + EOSIO = keosd) is a local component that securely stores EOSIO keys. </a:t>
            </a:r>
            <a:r>
              <a:rPr lang="zh-CN" sz="1400">
                <a:solidFill>
                  <a:srgbClr val="657B83"/>
                </a:solidFill>
                <a:highlight>
                  <a:srgbClr val="F7F7F7"/>
                </a:highlight>
                <a:latin typeface="Calibri"/>
                <a:ea typeface="Calibri"/>
                <a:cs typeface="Calibri"/>
                <a:sym typeface="Calibri"/>
              </a:rPr>
              <a:t>Cleos</a:t>
            </a: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 also interacts with it to manage EOSIO keys.</a:t>
            </a:r>
            <a:endParaRPr sz="1400">
              <a:solidFill>
                <a:srgbClr val="111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</a:pPr>
            <a:r>
              <a:rPr lang="zh-CN" sz="1400">
                <a:solidFill>
                  <a:srgbClr val="657B83"/>
                </a:solidFill>
                <a:highlight>
                  <a:srgbClr val="F7F7F7"/>
                </a:highlight>
                <a:latin typeface="Calibri"/>
                <a:ea typeface="Calibri"/>
                <a:cs typeface="Calibri"/>
                <a:sym typeface="Calibri"/>
              </a:rPr>
              <a:t>EOSIO.CDT</a:t>
            </a: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 is the toolchain and libraries for smart contract developers, which generate the </a:t>
            </a:r>
            <a:r>
              <a:rPr lang="zh-CN" sz="1400">
                <a:solidFill>
                  <a:srgbClr val="657B83"/>
                </a:solidFill>
                <a:highlight>
                  <a:srgbClr val="F7F7F7"/>
                </a:highlight>
                <a:latin typeface="Calibri"/>
                <a:ea typeface="Calibri"/>
                <a:cs typeface="Calibri"/>
                <a:sym typeface="Calibri"/>
              </a:rPr>
              <a:t>WebAssembly</a:t>
            </a: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 binary instructions or </a:t>
            </a:r>
            <a:r>
              <a:rPr lang="zh-CN" sz="1400">
                <a:solidFill>
                  <a:srgbClr val="657B83"/>
                </a:solidFill>
                <a:highlight>
                  <a:srgbClr val="F7F7F7"/>
                </a:highlight>
                <a:latin typeface="Calibri"/>
                <a:ea typeface="Calibri"/>
                <a:cs typeface="Calibri"/>
                <a:sym typeface="Calibri"/>
              </a:rPr>
              <a:t>bytecode</a:t>
            </a: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into </a:t>
            </a:r>
            <a:r>
              <a:rPr lang="zh-CN" sz="1400">
                <a:solidFill>
                  <a:srgbClr val="657B83"/>
                </a:solidFill>
                <a:highlight>
                  <a:srgbClr val="F7F7F7"/>
                </a:highlight>
                <a:latin typeface="Calibri"/>
                <a:ea typeface="Calibri"/>
                <a:cs typeface="Calibri"/>
                <a:sym typeface="Calibri"/>
              </a:rPr>
              <a:t>wasm</a:t>
            </a: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 files. The generated </a:t>
            </a:r>
            <a:r>
              <a:rPr lang="zh-CN" sz="1400">
                <a:solidFill>
                  <a:srgbClr val="657B83"/>
                </a:solidFill>
                <a:highlight>
                  <a:srgbClr val="F7F7F7"/>
                </a:highlight>
                <a:latin typeface="Calibri"/>
                <a:ea typeface="Calibri"/>
                <a:cs typeface="Calibri"/>
                <a:sym typeface="Calibri"/>
              </a:rPr>
              <a:t>wasm</a:t>
            </a:r>
            <a:r>
              <a:rPr lang="zh-CN" sz="1400">
                <a:solidFill>
                  <a:srgbClr val="111A44"/>
                </a:solidFill>
                <a:latin typeface="Calibri"/>
                <a:ea typeface="Calibri"/>
                <a:cs typeface="Calibri"/>
                <a:sym typeface="Calibri"/>
              </a:rPr>
              <a:t> files are the smart contracts which can be deployed to EOSIO blockchains.</a:t>
            </a:r>
            <a:endParaRPr sz="1400">
              <a:solidFill>
                <a:srgbClr val="111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7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rgbClr val="111A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111A4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39624" l="5207" r="5163" t="18326"/>
          <a:stretch/>
        </p:blipFill>
        <p:spPr>
          <a:xfrm>
            <a:off x="1892600" y="3550525"/>
            <a:ext cx="5927224" cy="121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15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latin typeface="Calibri"/>
                <a:ea typeface="Calibri"/>
                <a:cs typeface="Calibri"/>
                <a:sym typeface="Calibri"/>
              </a:rPr>
              <a:t>Environment Setup</a:t>
            </a:r>
            <a:endParaRPr sz="20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724650"/>
            <a:ext cx="7992000" cy="3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➢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Download the Dockerfile from our repo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git clone https://github.com/wasai-project/wasai.git &amp;&amp; cd wasai # download the code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➢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Build the Docker image at local.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6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sudo docker build -t localhost/client-eos:wasai .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➢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Run a Contrainer to setup the lab environment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sudo docker run --rm -ti  localhost/client-eos:wasai # run a docker container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➢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Then you should be in the container environment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5200" y="3284523"/>
            <a:ext cx="6944551" cy="153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15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latin typeface="Calibri"/>
                <a:ea typeface="Calibri"/>
                <a:cs typeface="Calibri"/>
                <a:sym typeface="Calibri"/>
              </a:rPr>
              <a:t>Environment Setup</a:t>
            </a:r>
            <a:endParaRPr sz="20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724650"/>
            <a:ext cx="7992000" cy="39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➢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play with nodeos </a:t>
            </a: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$nodeos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➢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Follow the document to deploy a smart contract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60000"/>
              </a:lnSpc>
              <a:spcBef>
                <a:spcPts val="600"/>
              </a:spcBef>
              <a:spcAft>
                <a:spcPts val="1200"/>
              </a:spcAft>
              <a:buNone/>
            </a:pPr>
            <a:r>
              <a:rPr lang="zh-CN" sz="1100" u="sng">
                <a:solidFill>
                  <a:schemeClr val="hlink"/>
                </a:solidFill>
                <a:hlinkClick r:id="rId3"/>
              </a:rPr>
              <a:t>https://developers.eos.io/welcome/v2.2/smart-contract-guides/deploy-issue-and-transfer-tokens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976" y="2044077"/>
            <a:ext cx="6713452" cy="26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15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latin typeface="Calibri"/>
                <a:ea typeface="Calibri"/>
                <a:cs typeface="Calibri"/>
                <a:sym typeface="Calibri"/>
              </a:rPr>
              <a:t>Victim </a:t>
            </a:r>
            <a:endParaRPr sz="20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724650"/>
            <a:ext cx="8368800" cy="44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000">
                <a:solidFill>
                  <a:srgbClr val="24292F"/>
                </a:solidFill>
                <a:latin typeface="Courier New"/>
                <a:ea typeface="Courier New"/>
                <a:cs typeface="Courier New"/>
                <a:sym typeface="Courier New"/>
              </a:rPr>
              <a:t>batdappboomx</a:t>
            </a:r>
            <a:r>
              <a:rPr lang="zh-CN" sz="1200">
                <a:solidFill>
                  <a:srgbClr val="24292F"/>
                </a:solidFill>
                <a:highlight>
                  <a:srgbClr val="FFFFFF"/>
                </a:highlight>
              </a:rPr>
              <a:t> is a public smart contract running in the </a:t>
            </a:r>
            <a:r>
              <a:rPr lang="zh-CN" sz="1200">
                <a:solidFill>
                  <a:schemeClr val="hlink"/>
                </a:solidFill>
                <a:uFill>
                  <a:noFill/>
                </a:uFill>
                <a:hlinkClick r:id="rId3"/>
              </a:rPr>
              <a:t>EOSIO blockchain</a:t>
            </a:r>
            <a:r>
              <a:rPr lang="zh-CN" sz="1200">
                <a:solidFill>
                  <a:srgbClr val="24292F"/>
                </a:solidFill>
                <a:highlight>
                  <a:srgbClr val="FFFFFF"/>
                </a:highlight>
              </a:rPr>
              <a:t>. </a:t>
            </a:r>
            <a:endParaRPr sz="120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200">
                <a:solidFill>
                  <a:srgbClr val="24292F"/>
                </a:solidFill>
                <a:highlight>
                  <a:srgbClr val="FFFFFF"/>
                </a:highlight>
              </a:rPr>
              <a:t>The latest version of this smart contract. The sha256 hash code of the smart contract is 1327c04cf4b56183eddb1a897bbebf5a873d3421272b708829a4ed0765bef820 </a:t>
            </a:r>
            <a:endParaRPr sz="120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200"/>
              <a:buChar char="❏"/>
            </a:pPr>
            <a:r>
              <a:rPr lang="zh-CN" sz="1200">
                <a:solidFill>
                  <a:srgbClr val="24292F"/>
                </a:solidFill>
                <a:highlight>
                  <a:srgbClr val="FFFFFF"/>
                </a:highlight>
              </a:rPr>
              <a:t>Check it at the blockchain explorer </a:t>
            </a:r>
            <a:r>
              <a:rPr lang="zh-CN" sz="1100" u="sng">
                <a:solidFill>
                  <a:schemeClr val="hlink"/>
                </a:solidFill>
                <a:hlinkClick r:id="rId4"/>
              </a:rPr>
              <a:t>https://bloks.io/account/batdappboomx</a:t>
            </a:r>
            <a:endParaRPr sz="120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F"/>
              </a:solidFill>
              <a:highlight>
                <a:srgbClr val="FFFFFF"/>
              </a:highlight>
            </a:endParaRPr>
          </a:p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1113" y="2109950"/>
            <a:ext cx="5921777" cy="263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15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latin typeface="Calibri"/>
                <a:ea typeface="Calibri"/>
                <a:cs typeface="Calibri"/>
                <a:sym typeface="Calibri"/>
              </a:rPr>
              <a:t>Victim </a:t>
            </a:r>
            <a:endParaRPr sz="20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724650"/>
            <a:ext cx="8368800" cy="44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200">
                <a:solidFill>
                  <a:srgbClr val="24292F"/>
                </a:solidFill>
                <a:highlight>
                  <a:srgbClr val="FFFFFF"/>
                </a:highlight>
              </a:rPr>
              <a:t>Download  Code and ABI from bloks.io, i.e.</a:t>
            </a:r>
            <a:r>
              <a:rPr lang="zh-CN" sz="1200">
                <a:solidFill>
                  <a:srgbClr val="24292F"/>
                </a:solidFill>
                <a:highlight>
                  <a:srgbClr val="FFFFFF"/>
                </a:highlight>
              </a:rPr>
              <a:t> </a:t>
            </a:r>
            <a:r>
              <a:rPr lang="zh-CN" sz="1100" u="sng">
                <a:solidFill>
                  <a:schemeClr val="hlink"/>
                </a:solidFill>
                <a:hlinkClick r:id="rId3"/>
              </a:rPr>
              <a:t>https://bloks.io/account/batdappboomx</a:t>
            </a:r>
            <a:endParaRPr sz="120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24292F"/>
              </a:buClr>
              <a:buSzPts val="1200"/>
              <a:buChar char="❏"/>
            </a:pPr>
            <a:r>
              <a:rPr lang="zh-CN" sz="1200">
                <a:solidFill>
                  <a:srgbClr val="24292F"/>
                </a:solidFill>
                <a:highlight>
                  <a:srgbClr val="FFFFFF"/>
                </a:highlight>
              </a:rPr>
              <a:t>Demo</a:t>
            </a:r>
            <a:endParaRPr sz="1200">
              <a:solidFill>
                <a:srgbClr val="24292F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4292F"/>
              </a:solidFill>
              <a:highlight>
                <a:srgbClr val="FFFFFF"/>
              </a:highlight>
            </a:endParaRPr>
          </a:p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0949" y="1350275"/>
            <a:ext cx="4935148" cy="368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15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latin typeface="Calibri"/>
                <a:ea typeface="Calibri"/>
                <a:cs typeface="Calibri"/>
                <a:sym typeface="Calibri"/>
              </a:rPr>
              <a:t>Victim</a:t>
            </a:r>
            <a:endParaRPr sz="20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724650"/>
            <a:ext cx="7992000" cy="41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Go back to the host environment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Download the POC from the repo</a:t>
            </a:r>
            <a:endParaRPr sz="1000">
              <a:solidFill>
                <a:srgbClr val="24292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git clone https://github.com/Kenun99/CVE-batdappboomx.git &amp;&amp; cd CVE-batdappboomx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Build the Docker Image at local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docker build -t localhost/client-eos:eos .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Run the POC in a Docker Container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docker run --rm  --network host -it localhost/client-eos:eos</a:t>
            </a:r>
            <a:endParaRPr sz="1000">
              <a:solidFill>
                <a:srgbClr val="24292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>
            <p:ph type="title"/>
          </p:nvPr>
        </p:nvSpPr>
        <p:spPr>
          <a:xfrm>
            <a:off x="311700" y="151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CN" sz="2020">
                <a:latin typeface="Calibri"/>
                <a:ea typeface="Calibri"/>
                <a:cs typeface="Calibri"/>
                <a:sym typeface="Calibri"/>
              </a:rPr>
              <a:t>Victim</a:t>
            </a:r>
            <a:endParaRPr sz="202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3"/>
          <p:cNvSpPr txBox="1"/>
          <p:nvPr>
            <p:ph idx="1" type="body"/>
          </p:nvPr>
        </p:nvSpPr>
        <p:spPr>
          <a:xfrm>
            <a:off x="311700" y="724650"/>
            <a:ext cx="7992000" cy="41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Go back to the host environment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Download the POC from the repo</a:t>
            </a:r>
            <a:endParaRPr sz="1000">
              <a:solidFill>
                <a:srgbClr val="24292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git clone https://github.com/Kenun99/CVE-batdappboomx.git &amp;&amp; cd CVE-batdappboomx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Build the Docker Image at local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docker build -t localhost/client-eos:eos .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❏"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Run the POC in a Docker Container</a:t>
            </a:r>
            <a:endParaRPr sz="140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15240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docker run --rm  --network host -it localhost/client-eos:eos</a:t>
            </a:r>
            <a:endParaRPr sz="1000">
              <a:solidFill>
                <a:srgbClr val="24292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3325" y="773300"/>
            <a:ext cx="6819026" cy="3855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258525" y="2200350"/>
            <a:ext cx="8540100" cy="15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 Very Much!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